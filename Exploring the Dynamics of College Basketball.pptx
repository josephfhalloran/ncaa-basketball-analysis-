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Lato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4ea3231024_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4ea3231024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4ea3231024_2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4ea3231024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26cc3efee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26cc3efee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4d7cb0c05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4d7cb0c05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4d7cb0c05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4d7cb0c05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26cc3efeef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26cc3efeef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4d7dee1666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4d7dee1666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4d7dee1666_3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4d7dee1666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4d7cb0c05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4d7cb0c05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26cc3efee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26cc3efee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4ef86acda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4ef86acda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26cc3efeef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26cc3efeef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4d6c92a2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4d6c92a2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4d6c92a2a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4d6c92a2a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4d6c92a2a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4d6c92a2a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26cc3efeef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26cc3efee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4f32644e32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4f32644e3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Exploring the Dynamics of College Basketball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Joseph Halloran, Adam Slivinsky, Henry </a:t>
            </a:r>
            <a:r>
              <a:rPr lang="en"/>
              <a:t>Waterhouse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8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Our data comes from Kaggle’s March Madness Machine Learning Dataset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Our main data set consists of regular season college basketball </a:t>
            </a:r>
            <a:r>
              <a:rPr b="1" lang="en" sz="1600"/>
              <a:t>box score data</a:t>
            </a:r>
            <a:r>
              <a:rPr lang="en" sz="1600"/>
              <a:t> from games during the </a:t>
            </a:r>
            <a:r>
              <a:rPr b="1" lang="en" sz="1600"/>
              <a:t>2003 - 2023</a:t>
            </a:r>
            <a:r>
              <a:rPr lang="en" sz="1600"/>
              <a:t> seasons.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There are </a:t>
            </a:r>
            <a:r>
              <a:rPr b="1" lang="en" sz="1600"/>
              <a:t>107,634</a:t>
            </a:r>
            <a:r>
              <a:rPr lang="en" sz="1600"/>
              <a:t> game entries (rows)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For each of these games, there are </a:t>
            </a:r>
            <a:r>
              <a:rPr b="1" lang="en" sz="1600"/>
              <a:t>34</a:t>
            </a:r>
            <a:r>
              <a:rPr lang="en" sz="1600"/>
              <a:t> features (columns):</a:t>
            </a:r>
            <a:endParaRPr sz="16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There are </a:t>
            </a:r>
            <a:r>
              <a:rPr b="1" lang="en" sz="1500"/>
              <a:t>box score stats</a:t>
            </a:r>
            <a:r>
              <a:rPr lang="en" sz="1500"/>
              <a:t> for both the </a:t>
            </a:r>
            <a:r>
              <a:rPr b="1" lang="en" sz="1500"/>
              <a:t>winning and losing </a:t>
            </a:r>
            <a:r>
              <a:rPr lang="en" sz="1500"/>
              <a:t>teams, as well as Season, Game Number, and other non-box score stats.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For example, stats are Score, Field Goals Made (FGM), Field Goals Attempted (FGA), Personal Fouls (PF), etc.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Modifying the Data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9578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T</a:t>
            </a:r>
            <a:r>
              <a:rPr lang="en" sz="1600"/>
              <a:t>o quantify </a:t>
            </a:r>
            <a:r>
              <a:rPr b="1" lang="en" sz="1600"/>
              <a:t>team performance</a:t>
            </a:r>
            <a:r>
              <a:rPr lang="en" sz="1600"/>
              <a:t> in a single season, we went through the game data and collected the </a:t>
            </a:r>
            <a:r>
              <a:rPr b="1" lang="en" sz="1600"/>
              <a:t>season </a:t>
            </a:r>
            <a:r>
              <a:rPr b="1" lang="en" sz="1600"/>
              <a:t>average </a:t>
            </a:r>
            <a:r>
              <a:rPr lang="en" sz="1600"/>
              <a:t>box score stats</a:t>
            </a:r>
            <a:r>
              <a:rPr lang="en" sz="1600"/>
              <a:t> f</a:t>
            </a:r>
            <a:r>
              <a:rPr lang="en" sz="1600"/>
              <a:t>or </a:t>
            </a:r>
            <a:r>
              <a:rPr b="1" lang="en" sz="1600"/>
              <a:t>each team and their opponents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 take the ratio of the two to form the </a:t>
            </a:r>
            <a:r>
              <a:rPr lang="en" sz="1600"/>
              <a:t>Ratio of Average Team Stat</a:t>
            </a:r>
            <a:r>
              <a:rPr lang="en" sz="1600"/>
              <a:t> (RATStat) for each box score statistic:</a:t>
            </a:r>
            <a:endParaRPr sz="1600"/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en" sz="1500"/>
              <a:t>RATScore</a:t>
            </a:r>
            <a:r>
              <a:rPr b="1" baseline="-25000" lang="en" sz="1500"/>
              <a:t>i,j</a:t>
            </a:r>
            <a:r>
              <a:rPr b="1" lang="en" sz="1500"/>
              <a:t> =          </a:t>
            </a:r>
            <a:r>
              <a:rPr b="1" lang="en" sz="1500"/>
              <a:t>(Average Team Score)</a:t>
            </a:r>
            <a:r>
              <a:rPr b="1" baseline="-25000" lang="en" sz="1500"/>
              <a:t>i,j</a:t>
            </a:r>
            <a:endParaRPr b="1" baseline="-25000" sz="1500"/>
          </a:p>
          <a:p>
            <a:pPr indent="0" lvl="0" marL="91440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                                  (Average Opponent Score)</a:t>
            </a:r>
            <a:r>
              <a:rPr b="1" baseline="-25000" lang="en" sz="1500"/>
              <a:t>i,j</a:t>
            </a:r>
            <a:endParaRPr b="1" baseline="-25000" i="1" sz="1500"/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For each team in each season, we now have </a:t>
            </a:r>
            <a:r>
              <a:rPr b="1" lang="en" sz="1500"/>
              <a:t>14 </a:t>
            </a:r>
            <a:r>
              <a:rPr lang="en" sz="1500"/>
              <a:t>features: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RATScore</a:t>
            </a:r>
            <a:r>
              <a:rPr baseline="-25000" lang="en" sz="1500"/>
              <a:t>i,j</a:t>
            </a:r>
            <a:r>
              <a:rPr lang="en" sz="1500"/>
              <a:t>, RATFGM</a:t>
            </a:r>
            <a:r>
              <a:rPr baseline="-25000" lang="en" sz="1500"/>
              <a:t>i,j</a:t>
            </a:r>
            <a:r>
              <a:rPr lang="en" sz="1500"/>
              <a:t>, RATFGA</a:t>
            </a:r>
            <a:r>
              <a:rPr baseline="-25000" lang="en" sz="1500"/>
              <a:t>i,j</a:t>
            </a:r>
            <a:r>
              <a:rPr lang="en" sz="1500"/>
              <a:t>, … RATBlk</a:t>
            </a:r>
            <a:r>
              <a:rPr baseline="-25000" lang="en" sz="1500"/>
              <a:t>i,j</a:t>
            </a:r>
            <a:r>
              <a:rPr lang="en" sz="1500"/>
              <a:t>, RATPF</a:t>
            </a:r>
            <a:r>
              <a:rPr baseline="-25000" lang="en" sz="1500"/>
              <a:t>i,j</a:t>
            </a:r>
            <a:endParaRPr baseline="-25000" sz="1500"/>
          </a:p>
        </p:txBody>
      </p:sp>
      <p:cxnSp>
        <p:nvCxnSpPr>
          <p:cNvPr id="100" name="Google Shape;100;p15"/>
          <p:cNvCxnSpPr/>
          <p:nvPr/>
        </p:nvCxnSpPr>
        <p:spPr>
          <a:xfrm>
            <a:off x="3030975" y="3872925"/>
            <a:ext cx="217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5"/>
          <p:cNvSpPr txBox="1"/>
          <p:nvPr/>
        </p:nvSpPr>
        <p:spPr>
          <a:xfrm>
            <a:off x="5840000" y="3403375"/>
            <a:ext cx="277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  = 2003, …, 2023  (Season ID)</a:t>
            </a:r>
            <a:endParaRPr b="1"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j</a:t>
            </a:r>
            <a:r>
              <a:rPr b="1"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= 1, …, ~350 (Team ID)</a:t>
            </a:r>
            <a:endParaRPr b="1"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main goal of our project is to implement various Machine Learning algorithms towards finding the relationship between </a:t>
            </a:r>
            <a:r>
              <a:rPr b="1" lang="en" sz="1600"/>
              <a:t>team performance</a:t>
            </a:r>
            <a:r>
              <a:rPr lang="en" sz="1600"/>
              <a:t> and </a:t>
            </a:r>
            <a:r>
              <a:rPr b="1" lang="en" sz="1600"/>
              <a:t>team summary statistics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 want to find: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600"/>
              <a:t>W</a:t>
            </a:r>
            <a:r>
              <a:rPr b="1" lang="en" sz="1600"/>
              <a:t>hat </a:t>
            </a:r>
            <a:r>
              <a:rPr b="1" lang="en" sz="1600"/>
              <a:t>statistics</a:t>
            </a:r>
            <a:r>
              <a:rPr lang="en" sz="1600"/>
              <a:t> </a:t>
            </a:r>
            <a:r>
              <a:rPr b="1" lang="en" sz="1600"/>
              <a:t>separate winning from losing teams</a:t>
            </a:r>
            <a:r>
              <a:rPr lang="en" sz="1600"/>
              <a:t>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en" sz="1600"/>
              <a:t>Outliers</a:t>
            </a:r>
            <a:r>
              <a:rPr lang="en" sz="1600"/>
              <a:t> in data that is very centralized.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The </a:t>
            </a:r>
            <a:r>
              <a:rPr b="1" lang="en" sz="1600"/>
              <a:t>dynamics</a:t>
            </a:r>
            <a:r>
              <a:rPr lang="en" sz="1600"/>
              <a:t> of how the </a:t>
            </a:r>
            <a:r>
              <a:rPr b="1" lang="en" sz="1600"/>
              <a:t>importance of different statistics changes </a:t>
            </a:r>
            <a:r>
              <a:rPr lang="en" sz="1600"/>
              <a:t>over the seasons.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589650" y="556650"/>
            <a:ext cx="8221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 On Ratio Stats (Loadings):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750" y="1369275"/>
            <a:ext cx="3418500" cy="36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4475" y="1369275"/>
            <a:ext cx="3418500" cy="3626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4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/>
        </p:nvSpPr>
        <p:spPr>
          <a:xfrm>
            <a:off x="0" y="0"/>
            <a:ext cx="7070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Trying Out Different Clustering Algorithms On Our PCA Data: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5" name="Google Shape;125;p19"/>
          <p:cNvPicPr preferRelativeResize="0"/>
          <p:nvPr/>
        </p:nvPicPr>
        <p:blipFill rotWithShape="1">
          <a:blip r:embed="rId3">
            <a:alphaModFix/>
          </a:blip>
          <a:srcRect b="0" l="10170" r="9243" t="0"/>
          <a:stretch/>
        </p:blipFill>
        <p:spPr>
          <a:xfrm>
            <a:off x="0" y="357525"/>
            <a:ext cx="8924252" cy="442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7088"/>
            <a:ext cx="4558774" cy="341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8775" y="743688"/>
            <a:ext cx="4558774" cy="341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0" y="0"/>
            <a:ext cx="7070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Outlier Detection With High Contamination Value: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87325"/>
            <a:ext cx="4572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761775"/>
            <a:ext cx="4572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/>
        </p:nvSpPr>
        <p:spPr>
          <a:xfrm>
            <a:off x="0" y="0"/>
            <a:ext cx="756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Outlier Detection With Low Contamination Value: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/>
        </p:nvSpPr>
        <p:spPr>
          <a:xfrm>
            <a:off x="0" y="0"/>
            <a:ext cx="17982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Duke Win Predictions (Scoring Components)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Regression on </a:t>
            </a:r>
            <a:r>
              <a:rPr b="1"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all RATStats </a:t>
            </a:r>
            <a:r>
              <a:rPr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for </a:t>
            </a:r>
            <a:r>
              <a:rPr b="1"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all seasons combined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Output is number of games won in a season</a:t>
            </a:r>
            <a:r>
              <a:rPr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050" y="663013"/>
            <a:ext cx="7634949" cy="381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/>
        </p:nvSpPr>
        <p:spPr>
          <a:xfrm>
            <a:off x="267900" y="933800"/>
            <a:ext cx="67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214325" y="696525"/>
            <a:ext cx="8465400" cy="4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For 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each individual season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, we employ various linear regression methods on 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three different models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to explore how the different 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covariates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(RATStats) 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contribute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towards the season outcome of a team, the number of 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games won</a:t>
            </a:r>
            <a:endParaRPr b="1"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We explore 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three different models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with different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combinations of features and feature selection methods: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○"/>
            </a:pPr>
            <a:r>
              <a:rPr b="1" lang="en" sz="1600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All Features Included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→ </a:t>
            </a:r>
            <a:r>
              <a:rPr b="1" lang="en" sz="1500">
                <a:solidFill>
                  <a:srgbClr val="4A86E8"/>
                </a:solidFill>
                <a:latin typeface="Raleway"/>
                <a:ea typeface="Raleway"/>
                <a:cs typeface="Raleway"/>
                <a:sym typeface="Raleway"/>
              </a:rPr>
              <a:t>Best 14-Feature Model</a:t>
            </a:r>
            <a:endParaRPr b="1" sz="1500">
              <a:solidFill>
                <a:srgbClr val="4A86E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Char char="○"/>
            </a:pPr>
            <a:r>
              <a:rPr b="1" lang="en" sz="16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r>
              <a:rPr lang="en" sz="16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Exclude Score, perform Feature Selection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→ </a:t>
            </a:r>
            <a:r>
              <a:rPr b="1" lang="en" sz="1500">
                <a:solidFill>
                  <a:srgbClr val="6AA84F"/>
                </a:solidFill>
                <a:latin typeface="Raleway"/>
                <a:ea typeface="Raleway"/>
                <a:cs typeface="Raleway"/>
                <a:sym typeface="Raleway"/>
              </a:rPr>
              <a:t>Best 3-Feature Model</a:t>
            </a:r>
            <a:r>
              <a:rPr lang="en" sz="1500">
                <a:solidFill>
                  <a:srgbClr val="FF99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without Score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○"/>
            </a:pPr>
            <a:r>
              <a:rPr b="1" lang="en" sz="16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Exclude Score and Makes, perform Feature Selection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r>
              <a:rPr b="1" lang="en" sz="1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 Best 2-Feature Model</a:t>
            </a:r>
            <a:r>
              <a:rPr lang="en" sz="1500">
                <a:solidFill>
                  <a:srgbClr val="6AA84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without Score and Makes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For each model, we run scikit-learn’s linear_model package with: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○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LinearRegression, LassoCV, RidgeCV, and ElasticNetCV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290850" y="199000"/>
            <a:ext cx="846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How do the RATStats contribute to winning basketball?</a:t>
            </a:r>
            <a:endParaRPr b="1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/>
        </p:nvSpPr>
        <p:spPr>
          <a:xfrm>
            <a:off x="76550" y="704175"/>
            <a:ext cx="2209800" cy="3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b="1" lang="en" sz="1500">
                <a:solidFill>
                  <a:srgbClr val="4A86E8"/>
                </a:solidFill>
                <a:latin typeface="Raleway"/>
                <a:ea typeface="Raleway"/>
                <a:cs typeface="Raleway"/>
                <a:sym typeface="Raleway"/>
              </a:rPr>
              <a:t>Blue</a:t>
            </a:r>
            <a:r>
              <a:rPr b="1"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= </a:t>
            </a:r>
            <a:r>
              <a:rPr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Best </a:t>
            </a:r>
            <a:r>
              <a:rPr b="1" lang="en" sz="1500">
                <a:solidFill>
                  <a:srgbClr val="4A86E8"/>
                </a:solidFill>
                <a:latin typeface="Raleway"/>
                <a:ea typeface="Raleway"/>
                <a:cs typeface="Raleway"/>
                <a:sym typeface="Raleway"/>
              </a:rPr>
              <a:t>14-Feature Model</a:t>
            </a:r>
            <a:r>
              <a:rPr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(all Features)</a:t>
            </a:r>
            <a:endParaRPr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Char char="●"/>
            </a:pPr>
            <a:r>
              <a:rPr b="1" lang="en" sz="1500">
                <a:solidFill>
                  <a:srgbClr val="6AA84F"/>
                </a:solidFill>
                <a:latin typeface="Raleway"/>
                <a:ea typeface="Raleway"/>
                <a:cs typeface="Raleway"/>
                <a:sym typeface="Raleway"/>
              </a:rPr>
              <a:t>Green</a:t>
            </a:r>
            <a:r>
              <a:rPr b="1"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= Best </a:t>
            </a:r>
            <a:r>
              <a:rPr b="1" lang="en" sz="1500">
                <a:solidFill>
                  <a:srgbClr val="6AA84F"/>
                </a:solidFill>
                <a:latin typeface="Raleway"/>
                <a:ea typeface="Raleway"/>
                <a:cs typeface="Raleway"/>
                <a:sym typeface="Raleway"/>
              </a:rPr>
              <a:t>3-Feature Model</a:t>
            </a:r>
            <a:r>
              <a:rPr b="1" lang="en" sz="1500">
                <a:solidFill>
                  <a:srgbClr val="FF99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without Score: </a:t>
            </a:r>
            <a:r>
              <a:rPr b="1" lang="en" sz="1500">
                <a:solidFill>
                  <a:srgbClr val="FF99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Char char="●"/>
            </a:pPr>
            <a:r>
              <a:rPr b="1" lang="en" sz="1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Red</a:t>
            </a:r>
            <a:r>
              <a:rPr b="1"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= Best </a:t>
            </a:r>
            <a:r>
              <a:rPr b="1" lang="en" sz="1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2-Feature Model </a:t>
            </a:r>
            <a:r>
              <a:rPr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without Score and Makes:</a:t>
            </a:r>
            <a:endParaRPr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176050" y="107150"/>
            <a:ext cx="85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MSE of All Explored Models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3992425" y="4136775"/>
            <a:ext cx="314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MSE is averaged over all 21 seasons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350" y="568850"/>
            <a:ext cx="6552850" cy="32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/>
        </p:nvSpPr>
        <p:spPr>
          <a:xfrm>
            <a:off x="290850" y="199000"/>
            <a:ext cx="846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How do the RATStats contribute to winning basketball?</a:t>
            </a:r>
            <a:endParaRPr b="1"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131475" y="727600"/>
            <a:ext cx="84654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We run each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of the three models, (</a:t>
            </a:r>
            <a:r>
              <a:rPr b="1" lang="en" sz="1600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1, </a:t>
            </a:r>
            <a:r>
              <a:rPr b="1" lang="en" sz="16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2, </a:t>
            </a:r>
            <a:r>
              <a:rPr b="1" lang="en" sz="16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), on all team RatStats for 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each individual season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and find the 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proportion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that each 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covariate coefficient contributes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to the regression output.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○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For example, the 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proportion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of the regression output for 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season i, model m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that is explained by RATScore is: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Prop(RATScore)</a:t>
            </a:r>
            <a:r>
              <a:rPr b="1" baseline="-25000"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i,m</a:t>
            </a:r>
            <a:r>
              <a:rPr b="1"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=     abs( Regression Coefficient of RATScore )</a:t>
            </a:r>
            <a:r>
              <a:rPr b="1" baseline="-25000"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i,m</a:t>
            </a:r>
            <a:r>
              <a:rPr b="1"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</a:t>
            </a:r>
            <a:endParaRPr b="1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                               (sum of all abs( Regression Coefficients ))</a:t>
            </a:r>
            <a:r>
              <a:rPr b="1" baseline="-25000" lang="en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i,m</a:t>
            </a:r>
            <a:endParaRPr b="1" baseline="-25000"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Lato"/>
              <a:buChar char="○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We 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scale the coefficients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so the sum of the absolute value of all of the regression coefficients is equal to one , which 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makes the proportions percentages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We then create a stacked area plot of each coefficient’s percentages for each model over each of the 21 seasons to show the 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dynamics of the importance of different statistics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.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7" name="Google Shape;167;p25"/>
          <p:cNvCxnSpPr/>
          <p:nvPr/>
        </p:nvCxnSpPr>
        <p:spPr>
          <a:xfrm>
            <a:off x="3031425" y="2864825"/>
            <a:ext cx="40011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5"/>
          <p:cNvSpPr txBox="1"/>
          <p:nvPr/>
        </p:nvSpPr>
        <p:spPr>
          <a:xfrm>
            <a:off x="7249500" y="2411050"/>
            <a:ext cx="16917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  = 2003, …, 2023</a:t>
            </a:r>
            <a:endParaRPr b="1"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m = </a:t>
            </a:r>
            <a:r>
              <a:rPr b="1" lang="en" sz="1600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1, </a:t>
            </a:r>
            <a:r>
              <a:rPr b="1" lang="en" sz="16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2, </a:t>
            </a:r>
            <a:r>
              <a:rPr b="1" lang="en" sz="16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b="1"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/>
        </p:nvSpPr>
        <p:spPr>
          <a:xfrm>
            <a:off x="0" y="0"/>
            <a:ext cx="17982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Coefficient Proportions from Regression on Selected Features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b="1" lang="en" sz="1600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All Features Included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→ </a:t>
            </a:r>
            <a:r>
              <a:rPr b="1" lang="en" sz="1500">
                <a:solidFill>
                  <a:srgbClr val="4A86E8"/>
                </a:solidFill>
                <a:latin typeface="Raleway"/>
                <a:ea typeface="Raleway"/>
                <a:cs typeface="Raleway"/>
                <a:sym typeface="Raleway"/>
              </a:rPr>
              <a:t>Best 14-Feature Model</a:t>
            </a:r>
            <a:endParaRPr b="1">
              <a:solidFill>
                <a:srgbClr val="4A86E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4" name="Google Shape;1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9525" y="142800"/>
            <a:ext cx="6694748" cy="444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6"/>
          <p:cNvSpPr txBox="1"/>
          <p:nvPr/>
        </p:nvSpPr>
        <p:spPr>
          <a:xfrm>
            <a:off x="115250" y="4639225"/>
            <a:ext cx="874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Area covered by a color = percentage that feature contributes towards regression output (Games Won/Season)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/>
        </p:nvSpPr>
        <p:spPr>
          <a:xfrm>
            <a:off x="0" y="0"/>
            <a:ext cx="17982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Coefficient Proportions from Regression on Selected Features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b="1" lang="en" sz="16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r>
              <a:rPr lang="en" sz="16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Exclude Score, perform Feature Selection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→ </a:t>
            </a:r>
            <a:r>
              <a:rPr b="1" lang="en" sz="1500">
                <a:solidFill>
                  <a:srgbClr val="6AA84F"/>
                </a:solidFill>
                <a:latin typeface="Raleway"/>
                <a:ea typeface="Raleway"/>
                <a:cs typeface="Raleway"/>
                <a:sym typeface="Raleway"/>
              </a:rPr>
              <a:t>Best 3-Feature Model</a:t>
            </a:r>
            <a:r>
              <a:rPr lang="en" sz="1500">
                <a:solidFill>
                  <a:srgbClr val="FF99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without Score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150" y="152400"/>
            <a:ext cx="6782449" cy="450065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7"/>
          <p:cNvSpPr txBox="1"/>
          <p:nvPr/>
        </p:nvSpPr>
        <p:spPr>
          <a:xfrm>
            <a:off x="115250" y="4639225"/>
            <a:ext cx="874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Area covered by a color = percentage that feature contributes towards regression output (Games Won/Season)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/>
        </p:nvSpPr>
        <p:spPr>
          <a:xfrm>
            <a:off x="0" y="0"/>
            <a:ext cx="17982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Coefficient Proportions from Regression on Selected Features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●"/>
            </a:pPr>
            <a:r>
              <a:rPr b="1" lang="en" sz="16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r>
              <a:rPr lang="en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Exclude Score and Makes, perform Feature Selection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r>
              <a:rPr b="1" lang="en" sz="1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 Best </a:t>
            </a:r>
            <a:endParaRPr b="1" sz="15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2-Feature </a:t>
            </a:r>
            <a:endParaRPr b="1" sz="1500">
              <a:solidFill>
                <a:srgbClr val="FF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Model</a:t>
            </a:r>
            <a:r>
              <a:rPr lang="en" sz="1500">
                <a:solidFill>
                  <a:srgbClr val="6AA84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500">
              <a:solidFill>
                <a:srgbClr val="6AA84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without 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Score and 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Makes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8" name="Google Shape;1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1005" y="152400"/>
            <a:ext cx="6125896" cy="448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 txBox="1"/>
          <p:nvPr/>
        </p:nvSpPr>
        <p:spPr>
          <a:xfrm>
            <a:off x="115250" y="4639225"/>
            <a:ext cx="874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Area covered by a color = percentage that feature contributes towards regression output (Games Won/Season)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/>
        </p:nvSpPr>
        <p:spPr>
          <a:xfrm>
            <a:off x="76550" y="704175"/>
            <a:ext cx="22098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b="1" lang="en" sz="1500">
                <a:solidFill>
                  <a:srgbClr val="4A86E8"/>
                </a:solidFill>
                <a:latin typeface="Raleway"/>
                <a:ea typeface="Raleway"/>
                <a:cs typeface="Raleway"/>
                <a:sym typeface="Raleway"/>
              </a:rPr>
              <a:t>Blue</a:t>
            </a:r>
            <a:r>
              <a:rPr b="1"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= </a:t>
            </a:r>
            <a:r>
              <a:rPr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Best </a:t>
            </a:r>
            <a:r>
              <a:rPr b="1" lang="en" sz="1500">
                <a:solidFill>
                  <a:srgbClr val="4A86E8"/>
                </a:solidFill>
                <a:latin typeface="Raleway"/>
                <a:ea typeface="Raleway"/>
                <a:cs typeface="Raleway"/>
                <a:sym typeface="Raleway"/>
              </a:rPr>
              <a:t>14-Feature Model</a:t>
            </a:r>
            <a:r>
              <a:rPr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(all Features)</a:t>
            </a:r>
            <a:endParaRPr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Char char="●"/>
            </a:pPr>
            <a:r>
              <a:rPr b="1" lang="en" sz="1500">
                <a:solidFill>
                  <a:srgbClr val="6AA84F"/>
                </a:solidFill>
                <a:latin typeface="Raleway"/>
                <a:ea typeface="Raleway"/>
                <a:cs typeface="Raleway"/>
                <a:sym typeface="Raleway"/>
              </a:rPr>
              <a:t>Green</a:t>
            </a:r>
            <a:r>
              <a:rPr b="1"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= Best </a:t>
            </a:r>
            <a:r>
              <a:rPr b="1" lang="en" sz="1500">
                <a:solidFill>
                  <a:srgbClr val="6AA84F"/>
                </a:solidFill>
                <a:latin typeface="Raleway"/>
                <a:ea typeface="Raleway"/>
                <a:cs typeface="Raleway"/>
                <a:sym typeface="Raleway"/>
              </a:rPr>
              <a:t>3-Feature Model</a:t>
            </a:r>
            <a:r>
              <a:rPr b="1" lang="en" sz="1500">
                <a:solidFill>
                  <a:srgbClr val="FF99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without Score: </a:t>
            </a:r>
            <a:r>
              <a:rPr b="1" lang="en" sz="1500">
                <a:solidFill>
                  <a:srgbClr val="FF99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500">
              <a:solidFill>
                <a:srgbClr val="FF99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Char char="○"/>
            </a:pPr>
            <a:r>
              <a:rPr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RATFGM, RATFGM3, RATFTM</a:t>
            </a:r>
            <a:endParaRPr b="1"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Char char="●"/>
            </a:pPr>
            <a:r>
              <a:rPr b="1" lang="en" sz="1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Red</a:t>
            </a:r>
            <a:r>
              <a:rPr b="1"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= Best </a:t>
            </a:r>
            <a:r>
              <a:rPr b="1" lang="en" sz="150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</a:rPr>
              <a:t>2-Feature Model </a:t>
            </a:r>
            <a:r>
              <a:rPr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without Score and Makes:</a:t>
            </a:r>
            <a:endParaRPr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Char char="○"/>
            </a:pPr>
            <a:r>
              <a:rPr lang="en" sz="15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RATDR, RATTO</a:t>
            </a:r>
            <a:r>
              <a:rPr lang="e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6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176050" y="107150"/>
            <a:ext cx="850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MSE of All Explored Models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3992425" y="4136775"/>
            <a:ext cx="314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MSE is averaged over all 21 seasons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7" name="Google Shape;19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350" y="568850"/>
            <a:ext cx="6552850" cy="32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Conclusions</a:t>
            </a:r>
            <a:endParaRPr/>
          </a:p>
        </p:txBody>
      </p:sp>
      <p:sp>
        <p:nvSpPr>
          <p:cNvPr id="203" name="Google Shape;203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 found that PCA performed well in explaining variance between end-of-season team performance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 developed a few different optimal regression models </a:t>
            </a:r>
            <a:r>
              <a:rPr lang="en" sz="1600">
                <a:solidFill>
                  <a:srgbClr val="000000"/>
                </a:solidFill>
              </a:rPr>
              <a:t>(</a:t>
            </a:r>
            <a:r>
              <a:rPr b="1" lang="en" sz="1600">
                <a:solidFill>
                  <a:srgbClr val="4A86E8"/>
                </a:solidFill>
              </a:rPr>
              <a:t>1, </a:t>
            </a:r>
            <a:r>
              <a:rPr b="1" lang="en" sz="1600">
                <a:solidFill>
                  <a:srgbClr val="6AA84F"/>
                </a:solidFill>
              </a:rPr>
              <a:t>2, </a:t>
            </a:r>
            <a:r>
              <a:rPr b="1" lang="en" sz="1600">
                <a:solidFill>
                  <a:srgbClr val="FF0000"/>
                </a:solidFill>
              </a:rPr>
              <a:t>3</a:t>
            </a:r>
            <a:r>
              <a:rPr lang="en" sz="1600">
                <a:solidFill>
                  <a:srgbClr val="000000"/>
                </a:solidFill>
              </a:rPr>
              <a:t>) </a:t>
            </a:r>
            <a:r>
              <a:rPr lang="en" sz="1600"/>
              <a:t>, to measure the dynamics of the importance of box score statistics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 found that the dynamics stayed relatively constant over the last 21 years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